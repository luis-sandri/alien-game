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9"/>
  </p:notesMasterIdLst>
  <p:handoutMasterIdLst>
    <p:handoutMasterId r:id="rId20"/>
  </p:handoutMasterIdLst>
  <p:sldIdLst>
    <p:sldId id="326" r:id="rId5"/>
    <p:sldId id="314" r:id="rId6"/>
    <p:sldId id="315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7" r:id="rId16"/>
    <p:sldId id="328" r:id="rId17"/>
    <p:sldId id="309" r:id="rId1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379F7E-9034-7E63-2299-F174B15204EF}" v="473" dt="2025-11-17T14:13:44.158"/>
    <p1510:client id="{7BDC0F45-F5CD-C7E0-FBE9-2381926AF455}" v="31" dt="2025-11-17T14:18:31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876" y="150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72" y="1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D31B8773-58D8-47A1-B6D2-DEAFD26CAAE0}" type="datetime1">
              <a:rPr lang="pt-BR" smtClean="0"/>
              <a:t>21/11/2025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537379DF-9F4E-4BAA-BFF1-F93DB0A9E83E}" type="datetime1">
              <a:rPr lang="pt-BR" smtClean="0"/>
              <a:pPr/>
              <a:t>21/11/2025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D4B9A9E5-4F7F-4A7D-9DE1-89923232926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9D214-1828-AB5F-B8DA-AA27A7296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DC47472-94F5-2071-D6C0-3A60D33FF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5AEA30EB-B7FF-46D3-48E2-B36C36FEB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7D6691C-8B7A-979E-909E-274D92F4F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3817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pt-B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Elemento gráfico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pt-BR" sz="2000"/>
            </a:lvl1pPr>
            <a:lvl2pPr>
              <a:lnSpc>
                <a:spcPct val="120000"/>
              </a:lnSpc>
              <a:defRPr lang="pt-BR" sz="1800"/>
            </a:lvl2pPr>
            <a:lvl3pPr>
              <a:lnSpc>
                <a:spcPct val="120000"/>
              </a:lnSpc>
              <a:defRPr lang="pt-BR" sz="1600"/>
            </a:lvl3pPr>
            <a:lvl4pPr>
              <a:lnSpc>
                <a:spcPct val="120000"/>
              </a:lnSpc>
              <a:defRPr lang="pt-BR" sz="1400"/>
            </a:lvl4pPr>
            <a:lvl5pPr>
              <a:lnSpc>
                <a:spcPct val="120000"/>
              </a:lnSpc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pt-B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ão ger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pt-BR" sz="48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pt-BR" sz="2000"/>
            </a:lvl1pPr>
            <a:lvl2pPr marL="457200" indent="0">
              <a:buNone/>
              <a:defRPr lang="pt-BR" sz="1800"/>
            </a:lvl2pPr>
            <a:lvl3pPr marL="914400" indent="0">
              <a:buNone/>
              <a:defRPr lang="pt-BR" sz="1600"/>
            </a:lvl3pPr>
            <a:lvl4pPr marL="1371600" indent="0">
              <a:buNone/>
              <a:defRPr lang="pt-BR" sz="1400"/>
            </a:lvl4pPr>
            <a:lvl5pPr marL="1828800" indent="0"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/>
            </a:lvl1pPr>
            <a:lvl2pPr>
              <a:spcBef>
                <a:spcPts val="0"/>
              </a:spcBef>
              <a:spcAft>
                <a:spcPts val="1200"/>
              </a:spcAft>
              <a:defRPr lang="pt-BR" sz="1800"/>
            </a:lvl2pPr>
            <a:lvl3pPr>
              <a:spcBef>
                <a:spcPts val="0"/>
              </a:spcBef>
              <a:spcAft>
                <a:spcPts val="1200"/>
              </a:spcAft>
              <a:defRPr lang="pt-BR" sz="1600"/>
            </a:lvl3pPr>
            <a:lvl4pPr>
              <a:spcBef>
                <a:spcPts val="0"/>
              </a:spcBef>
              <a:spcAft>
                <a:spcPts val="1200"/>
              </a:spcAft>
              <a:defRPr lang="pt-BR" sz="1400"/>
            </a:lvl4pPr>
            <a:lvl5pPr>
              <a:spcBef>
                <a:spcPts val="0"/>
              </a:spcBef>
              <a:spcAft>
                <a:spcPts val="1200"/>
              </a:spcAft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Imagem à esquerda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pt-BR" sz="4800">
                <a:solidFill>
                  <a:schemeClr val="bg1"/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9" name="Espaço Reservado para Conteúdo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pt-BR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/>
            </a:lvl1pPr>
            <a:lvl2pPr>
              <a:spcBef>
                <a:spcPts val="0"/>
              </a:spcBef>
              <a:spcAft>
                <a:spcPts val="1200"/>
              </a:spcAft>
              <a:defRPr lang="pt-BR" sz="1800"/>
            </a:lvl2pPr>
            <a:lvl3pPr>
              <a:spcBef>
                <a:spcPts val="0"/>
              </a:spcBef>
              <a:spcAft>
                <a:spcPts val="1200"/>
              </a:spcAft>
              <a:defRPr lang="pt-BR" sz="1600"/>
            </a:lvl3pPr>
            <a:lvl4pPr>
              <a:spcBef>
                <a:spcPts val="0"/>
              </a:spcBef>
              <a:spcAft>
                <a:spcPts val="1200"/>
              </a:spcAft>
              <a:defRPr lang="pt-BR" sz="1400"/>
            </a:lvl4pPr>
            <a:lvl5pPr>
              <a:spcBef>
                <a:spcPts val="0"/>
              </a:spcBef>
              <a:spcAft>
                <a:spcPts val="1200"/>
              </a:spcAft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/>
            </a:lvl1pPr>
            <a:lvl2pPr>
              <a:spcBef>
                <a:spcPts val="0"/>
              </a:spcBef>
              <a:spcAft>
                <a:spcPts val="1200"/>
              </a:spcAft>
              <a:defRPr lang="pt-BR" sz="1800"/>
            </a:lvl2pPr>
            <a:lvl3pPr>
              <a:spcBef>
                <a:spcPts val="0"/>
              </a:spcBef>
              <a:spcAft>
                <a:spcPts val="1200"/>
              </a:spcAft>
              <a:defRPr lang="pt-BR" sz="1600"/>
            </a:lvl3pPr>
            <a:lvl4pPr>
              <a:spcBef>
                <a:spcPts val="0"/>
              </a:spcBef>
              <a:spcAft>
                <a:spcPts val="1200"/>
              </a:spcAft>
              <a:defRPr lang="pt-BR" sz="1400"/>
            </a:lvl4pPr>
            <a:lvl5pPr>
              <a:spcBef>
                <a:spcPts val="0"/>
              </a:spcBef>
              <a:spcAft>
                <a:spcPts val="1200"/>
              </a:spcAft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 b="1"/>
            </a:lvl1pPr>
            <a:lvl2pPr>
              <a:spcBef>
                <a:spcPts val="0"/>
              </a:spcBef>
              <a:spcAft>
                <a:spcPts val="1200"/>
              </a:spcAft>
              <a:defRPr lang="pt-BR" sz="1800" b="1"/>
            </a:lvl2pPr>
            <a:lvl3pPr>
              <a:spcBef>
                <a:spcPts val="0"/>
              </a:spcBef>
              <a:spcAft>
                <a:spcPts val="1200"/>
              </a:spcAft>
              <a:defRPr lang="pt-BR" sz="1600" b="1"/>
            </a:lvl3pPr>
            <a:lvl4pPr>
              <a:spcBef>
                <a:spcPts val="0"/>
              </a:spcBef>
              <a:spcAft>
                <a:spcPts val="1200"/>
              </a:spcAft>
              <a:defRPr lang="pt-BR" sz="1400" b="1"/>
            </a:lvl4pPr>
            <a:lvl5pPr>
              <a:spcBef>
                <a:spcPts val="0"/>
              </a:spcBef>
              <a:spcAft>
                <a:spcPts val="1200"/>
              </a:spcAft>
              <a:defRPr lang="pt-BR" sz="1400" b="1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/>
            </a:lvl1pPr>
            <a:lvl2pPr>
              <a:spcBef>
                <a:spcPts val="0"/>
              </a:spcBef>
              <a:spcAft>
                <a:spcPts val="1200"/>
              </a:spcAft>
              <a:defRPr lang="pt-BR" sz="1800"/>
            </a:lvl2pPr>
            <a:lvl3pPr>
              <a:spcBef>
                <a:spcPts val="0"/>
              </a:spcBef>
              <a:spcAft>
                <a:spcPts val="1200"/>
              </a:spcAft>
              <a:defRPr lang="pt-BR" sz="1600"/>
            </a:lvl3pPr>
            <a:lvl4pPr>
              <a:spcBef>
                <a:spcPts val="0"/>
              </a:spcBef>
              <a:spcAft>
                <a:spcPts val="1200"/>
              </a:spcAft>
              <a:defRPr lang="pt-BR" sz="1400"/>
            </a:lvl4pPr>
            <a:lvl5pPr>
              <a:spcBef>
                <a:spcPts val="0"/>
              </a:spcBef>
              <a:spcAft>
                <a:spcPts val="1200"/>
              </a:spcAft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Imagem à direi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Conteúdo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 b="0"/>
            </a:lvl1pPr>
            <a:lvl2pPr>
              <a:spcBef>
                <a:spcPts val="0"/>
              </a:spcBef>
              <a:spcAft>
                <a:spcPts val="1200"/>
              </a:spcAft>
              <a:defRPr lang="pt-BR" sz="1800" b="0"/>
            </a:lvl2pPr>
            <a:lvl3pPr>
              <a:spcBef>
                <a:spcPts val="0"/>
              </a:spcBef>
              <a:spcAft>
                <a:spcPts val="1200"/>
              </a:spcAft>
              <a:defRPr lang="pt-BR" sz="1600" b="0"/>
            </a:lvl3pPr>
            <a:lvl4pPr>
              <a:spcBef>
                <a:spcPts val="0"/>
              </a:spcBef>
              <a:spcAft>
                <a:spcPts val="1200"/>
              </a:spcAft>
              <a:defRPr lang="pt-BR" sz="1400" b="0"/>
            </a:lvl4pPr>
            <a:lvl5pPr>
              <a:spcBef>
                <a:spcPts val="0"/>
              </a:spcBef>
              <a:spcAft>
                <a:spcPts val="1200"/>
              </a:spcAft>
              <a:defRPr lang="pt-BR" sz="1400" b="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o Título e Tabe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 Gráfico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 b="0"/>
            </a:lvl1pPr>
            <a:lvl2pPr>
              <a:spcBef>
                <a:spcPts val="0"/>
              </a:spcBef>
              <a:spcAft>
                <a:spcPts val="1200"/>
              </a:spcAft>
              <a:defRPr lang="pt-BR" sz="1800" b="0"/>
            </a:lvl2pPr>
            <a:lvl3pPr>
              <a:spcBef>
                <a:spcPts val="0"/>
              </a:spcBef>
              <a:spcAft>
                <a:spcPts val="1200"/>
              </a:spcAft>
              <a:defRPr lang="pt-BR" sz="1600" b="0"/>
            </a:lvl3pPr>
            <a:lvl4pPr>
              <a:spcBef>
                <a:spcPts val="0"/>
              </a:spcBef>
              <a:spcAft>
                <a:spcPts val="1200"/>
              </a:spcAft>
              <a:defRPr lang="pt-BR" sz="1400" b="0"/>
            </a:lvl4pPr>
            <a:lvl5pPr>
              <a:spcBef>
                <a:spcPts val="0"/>
              </a:spcBef>
              <a:spcAft>
                <a:spcPts val="1200"/>
              </a:spcAft>
              <a:defRPr lang="pt-BR" sz="1400" b="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3" name="Espaço Reservado da Mesa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pt-BR" sz="2000"/>
            </a:lvl1pPr>
          </a:lstStyle>
          <a:p>
            <a:pPr rtl="0"/>
            <a:r>
              <a:rPr lang="pt-BR"/>
              <a:t>Clique no ícone para inserir a tabela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pt-BR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pt-BR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pt-BR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pt-BR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pt-BR" sz="1600" b="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pt-BR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pt-BR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pt-BR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pt-BR" sz="1400" b="1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9" name="Espaço Reservado para Tabela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pt-BR" sz="2400"/>
            </a:lvl1pPr>
          </a:lstStyle>
          <a:p>
            <a:pPr rtl="0"/>
            <a:r>
              <a:rPr lang="pt-BR"/>
              <a:t>Clique no ícone para adicionar uma tabela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pt-B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pt-BR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pt-BR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pt-BR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pt-BR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pt-BR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pic>
        <p:nvPicPr>
          <p:cNvPr id="2" name="Elemento Gráfico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8IdapPx5P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E01DC-BAD2-DB2F-090D-F9E6EA35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7D654-BD65-FC34-260D-0EBA0E64D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187" y="-2526060"/>
            <a:ext cx="10573074" cy="3477134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Alien: o sétimo passageiro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A2F24A-E728-8F3F-9D11-F7D7C3AC6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187" y="951172"/>
            <a:ext cx="8695944" cy="29174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Link do vídeo no </a:t>
            </a:r>
            <a:r>
              <a:rPr lang="pt-BR" dirty="0" err="1"/>
              <a:t>youtube</a:t>
            </a:r>
            <a:r>
              <a:rPr lang="pt-BR" dirty="0"/>
              <a:t> com a explicação: </a:t>
            </a:r>
            <a:r>
              <a:rPr lang="pt-BR" dirty="0">
                <a:hlinkClick r:id="rId3"/>
              </a:rPr>
              <a:t>https://youtu.be/T8IdapPx5PU</a:t>
            </a:r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221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Alien: o sétimo passageiro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5A964C-BEA0-1F41-BA9C-7AB096B3A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Alunos</a:t>
            </a:r>
            <a:r>
              <a:rPr lang="en-US" dirty="0"/>
              <a:t>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Luís Gustavo Pazin Sandri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Renan </a:t>
            </a:r>
            <a:r>
              <a:rPr lang="en-US" dirty="0" err="1"/>
              <a:t>Cassou</a:t>
            </a:r>
            <a:r>
              <a:rPr lang="en-US" dirty="0"/>
              <a:t> Rodrigues</a:t>
            </a:r>
          </a:p>
          <a:p>
            <a:pPr marL="342900" indent="-342900">
              <a:buFont typeface="Calibri"/>
              <a:buChar char="-"/>
            </a:pPr>
            <a:r>
              <a:rPr lang="en-US" dirty="0"/>
              <a:t>João Pedro </a:t>
            </a:r>
            <a:r>
              <a:rPr lang="en-US" dirty="0" err="1"/>
              <a:t>Gadens</a:t>
            </a:r>
            <a:r>
              <a:rPr lang="en-US" dirty="0"/>
              <a:t> Mosson</a:t>
            </a:r>
          </a:p>
          <a:p>
            <a:pPr marL="342900" indent="-342900">
              <a:buFont typeface="Calibri"/>
              <a:buChar char="-"/>
            </a:pPr>
            <a:r>
              <a:rPr lang="en-US" dirty="0"/>
              <a:t>Victor de Oliveira Medeiros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619" y="529846"/>
            <a:ext cx="5181600" cy="114681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CONTEXTO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8619" y="534988"/>
            <a:ext cx="5717381" cy="5855494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Em uma missão especial da empresa Prodigy, seis tripulantes viajam pelo espaço sideral rumo a um planeta com alta probabilidade de abrigar novas formas de vida. A nave transporta diversos espécimes extraterrestres: plantas, ovos e animais, todos mantidos sob controle na ala de segurança. Na manhã seguinte ao jantar diário, o Chefe de Segurança Peçanha foi encontrado morto na ala de segurança com ferimentos estranhos e substâncias incomuns no corpo. Um dos tripulantes sabotou a nave e a ala de segurança, permitindo que o </a:t>
            </a:r>
            <a:r>
              <a:rPr lang="pt-BR" dirty="0" err="1">
                <a:solidFill>
                  <a:srgbClr val="4D4D4C"/>
                </a:solidFill>
                <a:ea typeface="+mn-lt"/>
                <a:cs typeface="+mn-lt"/>
              </a:rPr>
              <a:t>alien</a:t>
            </a: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 escapasse, encontrasse um hospedeiro e se desenvolvesse. OBJETIVO: Descobrir quem sabotou a nave e permitiu o ataque do </a:t>
            </a:r>
            <a:r>
              <a:rPr lang="pt-BR" dirty="0" err="1">
                <a:solidFill>
                  <a:srgbClr val="4D4D4C"/>
                </a:solidFill>
                <a:ea typeface="+mn-lt"/>
                <a:cs typeface="+mn-lt"/>
              </a:rPr>
              <a:t>alien</a:t>
            </a: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!</a:t>
            </a:r>
            <a:endParaRPr lang="pt-BR" dirty="0">
              <a:ea typeface="+mn-lt"/>
              <a:cs typeface="+mn-lt"/>
            </a:endParaRP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personagens</a:t>
            </a:r>
          </a:p>
        </p:txBody>
      </p:sp>
      <p:pic>
        <p:nvPicPr>
          <p:cNvPr id="2" name="Imagem 1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C0EB9A56-9BB2-A8AA-C09D-7B344B2AFD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844" b="14844"/>
          <a:stretch>
            <a:fillRect/>
          </a:stretch>
        </p:blipFill>
        <p:spPr>
          <a:xfrm>
            <a:off x="20" y="1385"/>
            <a:ext cx="609598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4172990"/>
            <a:ext cx="4805997" cy="2389736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82" y="-3969"/>
            <a:ext cx="4642356" cy="1063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32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35743" y="749302"/>
            <a:ext cx="9142918" cy="5953597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marL="457200" indent="-457200">
              <a:buAutoNum type="arabicPeriod"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 PILOTO - VECTOR • Responsável pela navegação da nave • Último a ver o chefe vivo • Item: Luvas especiais </a:t>
            </a:r>
          </a:p>
          <a:p>
            <a:pPr marL="457200" indent="-457200">
              <a:buAutoNum type="arabicPeriod"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 BIÓLOGO - LOGAN (Principal Suspeito) • Especialista em espécimes biológicos • Acesso exclusivo a substâncias tóxicas • Item: Ervas especiais (veneno, anestesia, paralisia) </a:t>
            </a:r>
            <a:endParaRPr lang="pt-BR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 ENGENHEIRO - RODRIGO • Mantém os sistemas da nave funcionando • Conhecimento técnico dos sistemas de segurança • Item: Chave inglesa </a:t>
            </a:r>
            <a:endParaRPr lang="pt-BR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 MÉDICO - ADALBERTO • Cuidados médicos da tripulação • Tinha rixa com o chefe de segurança • Item: Kit médico e bisturi </a:t>
            </a:r>
            <a:endParaRPr lang="pt-BR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 COZINHEIRO - JONATHAN • Prepara as refeições da tripulação • Estava na sala de recreação durante o incidente • Item: Frigideira </a:t>
            </a:r>
            <a:endParaRPr lang="pt-BR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 CHEFE DE SEGURANÇA - PEÇANHA (VÍTIMA) • Responsável pela segurança dos espécimes • Encontrado morto na ala de segurança </a:t>
            </a:r>
            <a:endParaRPr lang="pt-BR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 ALIEN - NÉLIA • Criatura extraterrestre hostil • Usou o corpo do chefe como hospedeiro • Está à solta na nave </a:t>
            </a:r>
            <a:br>
              <a:rPr lang="pt-BR" dirty="0">
                <a:solidFill>
                  <a:srgbClr val="4D4D4C"/>
                </a:solidFill>
                <a:ea typeface="+mn-lt"/>
                <a:cs typeface="+mn-lt"/>
              </a:rPr>
            </a:br>
            <a:endParaRPr lang="pt-BR" sz="2000" cap="none" dirty="0">
              <a:solidFill>
                <a:srgbClr val="4D4D4C"/>
              </a:solidFill>
              <a:ea typeface="+mn-lt"/>
              <a:cs typeface="+mn-lt"/>
            </a:endParaRP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ITENS</a:t>
            </a: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43796864-25E7-7FEA-67CD-600673E19F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95" r="4616"/>
          <a:stretch>
            <a:fillRect/>
          </a:stretch>
        </p:blipFill>
        <p:spPr>
          <a:xfrm>
            <a:off x="20" y="10"/>
            <a:ext cx="6095980" cy="685799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rtl="0"/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51996" cy="60986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226633"/>
            <a:ext cx="4992709" cy="4542797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marL="457200" indent="-457200">
              <a:buAutoNum type="arabicPeriod"/>
            </a:pPr>
            <a:r>
              <a:rPr lang="pt-BR" noProof="1">
                <a:solidFill>
                  <a:srgbClr val="4D4D4C"/>
                </a:solidFill>
                <a:ea typeface="+mn-lt"/>
                <a:cs typeface="+mn-lt"/>
              </a:rPr>
              <a:t> LUVAS ESPECIAIS • Usadas pelo Piloto Vector • Equipamento de navegação e controle </a:t>
            </a:r>
            <a:endParaRPr lang="pt-BR" noProof="1">
              <a:solidFill>
                <a:srgbClr val="000000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noProof="1">
                <a:solidFill>
                  <a:srgbClr val="4D4D4C"/>
                </a:solidFill>
                <a:ea typeface="+mn-lt"/>
                <a:cs typeface="+mn-lt"/>
              </a:rPr>
              <a:t>ERVAS ESPECIAIS • Pertence ao Biólogo Logan • Efeitos: veneno, anestesia, paralisia, anti-inflamatório • Acesso restrito  </a:t>
            </a:r>
            <a:endParaRPr lang="pt-BR" noProof="1">
              <a:solidFill>
                <a:srgbClr val="000000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noProof="1">
                <a:solidFill>
                  <a:srgbClr val="4D4D4C"/>
                </a:solidFill>
                <a:ea typeface="+mn-lt"/>
                <a:cs typeface="+mn-lt"/>
              </a:rPr>
              <a:t>CHAVE INGLESA • Ferramenta do Engenheiro Rodrigo • Usada para manutenção dos sistemas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1226633"/>
            <a:ext cx="4981504" cy="4542797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>
              <a:buNone/>
            </a:pPr>
            <a:r>
              <a:rPr lang="pt-BR" noProof="1">
                <a:solidFill>
                  <a:srgbClr val="4D4D4C"/>
                </a:solidFill>
              </a:rPr>
              <a:t>4. KIT MÉDICO E BISTURI • Equipamento do Médico Adalberto • Instrumentos cirúrgicos precisos  </a:t>
            </a:r>
            <a:endParaRPr lang="pt-BR" noProof="1">
              <a:solidFill>
                <a:srgbClr val="000000"/>
              </a:solidFill>
            </a:endParaRPr>
          </a:p>
          <a:p>
            <a:pPr>
              <a:buNone/>
            </a:pPr>
            <a:r>
              <a:rPr lang="pt-BR" noProof="1">
                <a:solidFill>
                  <a:srgbClr val="4D4D4C"/>
                </a:solidFill>
              </a:rPr>
              <a:t>5. FRIGIDEIRA • Utensílio do Cozinheiro Jonathan • Usada no preparo das refeições</a:t>
            </a:r>
            <a:endParaRPr lang="pt-BR" noProof="1"/>
          </a:p>
          <a:p>
            <a:pPr marL="0" indent="0">
              <a:buNone/>
            </a:pPr>
            <a:endParaRPr lang="pt-BR" noProof="1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0" y="127000"/>
            <a:ext cx="3414714" cy="890736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LOCAIS DA NAVE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74C67C-D286-74AE-086C-3E45FF9D95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9087" y="879250"/>
            <a:ext cx="10441972" cy="5640273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marL="457200" indent="-457200">
              <a:buAutoNum type="arabicPeriod"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ALA DE SEGURANÇA • Contenção dos espécimes alienígenas • Local onde o corpo foi encontrado • Sistemas de segurança sabotados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ALA BIOLÓGICA • Laboratório de estudos científicos • Acesso restrito ao biólogo • Armazenamento de substâncias perigosas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COZINHA • Preparação das refeições • </a:t>
            </a:r>
            <a:r>
              <a:rPr lang="pt-BR" b="0">
                <a:solidFill>
                  <a:srgbClr val="4D4D4C"/>
                </a:solidFill>
                <a:ea typeface="+mn-lt"/>
                <a:cs typeface="+mn-lt"/>
              </a:rPr>
              <a:t>Local onde o médico estava durante o incidente 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CABINE • Centro de comando e navegação • Controle dos sistemas da nave 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MOTORES • Sistema de propulsão da nave • Manutenção pelo engenheiro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ALA MÉDICA • Tratamentos e procedimentos cirúrgicos • Equipamentos médicos </a:t>
            </a:r>
            <a:r>
              <a:rPr lang="pt-BR" b="0">
                <a:solidFill>
                  <a:srgbClr val="4D4D4C"/>
                </a:solidFill>
                <a:ea typeface="+mn-lt"/>
                <a:cs typeface="+mn-lt"/>
              </a:rPr>
              <a:t>avançados 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ALA DE RECREAÇÃO • Área de descanso da tripulação • Onde o cozinheiro estava durante o assassinato</a:t>
            </a:r>
            <a:endParaRPr lang="pt-BR">
              <a:ea typeface="+mn-lt"/>
              <a:cs typeface="+mn-lt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790503" y="1565374"/>
            <a:ext cx="1082410" cy="2239710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34" y="465978"/>
            <a:ext cx="7588518" cy="890874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r>
              <a:rPr lang="pt-BR" b="1" dirty="0"/>
              <a:t>Fatos Relevantes  (Pistas/Hipóteses)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799" y="1166844"/>
            <a:ext cx="5633885" cy="5302782"/>
          </a:xfrm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</a:lstStyle>
          <a:p>
            <a:pPr marL="457200" indent="-457200">
              <a:buAutoNum type="arabicPeriod"/>
            </a:pPr>
            <a:r>
              <a:rPr lang="pt-BR" sz="1600" dirty="0"/>
              <a:t>O chefe de segurança foi encontrado com substâncias incomuns no corpo </a:t>
            </a:r>
          </a:p>
          <a:p>
            <a:pPr marL="457200" indent="-457200">
              <a:buAutoNum type="arabicPeriod"/>
            </a:pPr>
            <a:r>
              <a:rPr lang="pt-BR" sz="1600" dirty="0"/>
              <a:t>Os hematomas não causaram a morte e o cozinheiro estava na sala de recreação </a:t>
            </a:r>
          </a:p>
          <a:p>
            <a:pPr marL="457200" indent="-457200">
              <a:buAutoNum type="arabicPeriod"/>
            </a:pPr>
            <a:r>
              <a:rPr lang="pt-BR" sz="1600" dirty="0"/>
              <a:t>Se o médico estava na cozinha, então o piloto estava na ala de segurança </a:t>
            </a:r>
          </a:p>
          <a:p>
            <a:pPr marL="457200" indent="-457200">
              <a:buAutoNum type="arabicPeriod"/>
            </a:pPr>
            <a:r>
              <a:rPr lang="pt-BR" sz="1600" dirty="0"/>
              <a:t>O médico tinha uma rixa com o chefe de segurança </a:t>
            </a:r>
          </a:p>
          <a:p>
            <a:pPr marL="457200" indent="-457200">
              <a:buAutoNum type="arabicPeriod"/>
            </a:pPr>
            <a:r>
              <a:rPr lang="pt-BR" sz="1600" dirty="0"/>
              <a:t>O piloto foi o último a ver o chefe de segurança vivo </a:t>
            </a:r>
          </a:p>
          <a:p>
            <a:pPr marL="457200" indent="-457200">
              <a:buAutoNum type="arabicPeriod"/>
            </a:pPr>
            <a:r>
              <a:rPr lang="pt-BR" sz="1600" dirty="0"/>
              <a:t>Se o piloto não estava na ala de segurança, então o biólogo matou o chefe </a:t>
            </a:r>
          </a:p>
          <a:p>
            <a:pPr marL="457200" indent="-457200">
              <a:buAutoNum type="arabicPeriod"/>
            </a:pPr>
            <a:r>
              <a:rPr lang="pt-BR" sz="1600" dirty="0"/>
              <a:t>O cozinheiro estava na sala de recreação durante o incidente </a:t>
            </a:r>
          </a:p>
          <a:p>
            <a:pPr marL="457200" indent="-457200">
              <a:buAutoNum type="arabicPeriod"/>
            </a:pPr>
            <a:r>
              <a:rPr lang="pt-BR" sz="1600" dirty="0"/>
              <a:t>Se as substâncias incomuns são de origem biológica, então apenas o biólogo ou médico teriam acesso a elas </a:t>
            </a:r>
          </a:p>
          <a:p>
            <a:pPr marL="457200" indent="-457200">
              <a:buAutoNum type="arabicPeriod"/>
            </a:pPr>
            <a:r>
              <a:rPr lang="pt-BR" sz="1600" dirty="0"/>
              <a:t>O médico estava na cozinha durante o período do assassinato </a:t>
            </a:r>
          </a:p>
          <a:p>
            <a:pPr marL="457200" indent="-457200">
              <a:buAutoNum type="arabicPeriod"/>
            </a:pPr>
            <a:r>
              <a:rPr lang="pt-BR" sz="1600" dirty="0"/>
              <a:t>Se o médico estava na cozinha, então ele não poderia estar na ala de segurança ao mesmo tempo </a:t>
            </a:r>
            <a:br>
              <a:rPr lang="pt-BR" sz="1800" dirty="0"/>
            </a:br>
            <a:endParaRPr lang="pt-BR" sz="1800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490" y="6469626"/>
            <a:ext cx="631065" cy="296214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B5CEABB6-07DC-46E8-9B57-56EC44A396E5}" type="slidenum">
              <a:rPr lang="pt-BR" smtClean="0"/>
              <a:pPr rtl="0">
                <a:spcAft>
                  <a:spcPts val="600"/>
                </a:spcAft>
              </a:pPr>
              <a:t>9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41A93A-DA4D-9A47-1CB0-8886247AC2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37" r="5736" b="-1"/>
          <a:stretch>
            <a:fillRect/>
          </a:stretch>
        </p:blipFill>
        <p:spPr>
          <a:xfrm>
            <a:off x="6076950" y="10"/>
            <a:ext cx="6115050" cy="686887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3671890" cy="100814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2000" b="1" dirty="0">
                <a:solidFill>
                  <a:srgbClr val="4D4D4C"/>
                </a:solidFill>
                <a:ea typeface="+mj-lt"/>
                <a:cs typeface="+mj-lt"/>
              </a:rPr>
              <a:t>Rotulagem das Premissas</a:t>
            </a:r>
            <a:endParaRPr lang="pt-BR" sz="20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C71586-1388-197C-1294-83D4DD8529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5001606" cy="3914910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A: O chefe de segurança foi encontrado com substâncias incomuns no corpo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B: Os hematomas não causaram a morte 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C: O cozinheiro estava na sala de recreação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D: O médico estava na cozinha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E: O piloto estava na ala de segurança 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F: O médico tinha uma rixa com o chefe de segurança</a:t>
            </a:r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10</a:t>
            </a:fld>
            <a:endParaRPr lang="pt-BR" dirty="0"/>
          </a:p>
        </p:txBody>
      </p:sp>
      <p:sp>
        <p:nvSpPr>
          <p:cNvPr id="7" name="Espaço Reservado para Tabela 6">
            <a:extLst>
              <a:ext uri="{FF2B5EF4-FFF2-40B4-BE49-F238E27FC236}">
                <a16:creationId xmlns:a16="http://schemas.microsoft.com/office/drawing/2014/main" id="{8ADC39BF-C87A-E765-C0BC-ECB4CD21952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 flipV="1">
            <a:off x="11388724" y="5521325"/>
            <a:ext cx="79376" cy="211137"/>
          </a:xfrm>
        </p:spPr>
        <p:txBody>
          <a:bodyPr>
            <a:normAutofit fontScale="47500" lnSpcReduction="20000"/>
          </a:bodyPr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64AC09-348D-8EAA-FD37-3A7C01E1B474}"/>
              </a:ext>
            </a:extLst>
          </p:cNvPr>
          <p:cNvSpPr txBox="1"/>
          <p:nvPr/>
        </p:nvSpPr>
        <p:spPr>
          <a:xfrm>
            <a:off x="6231374" y="2026613"/>
            <a:ext cx="452327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F: O médico tinha uma rixa com o chefe de segurança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G: O piloto foi o último a ver o chefe de segurança vivo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H: O biólogo matou o chefe de segurança 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I: As substâncias incomuns são de origem biológica 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J: Apenas o biólogo ou médico teriam acesso às substâncias biológicas 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K: O médico poderia estar na ala de segurança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>
                <a:solidFill>
                  <a:srgbClr val="4D4D4C"/>
                </a:solidFill>
                <a:ea typeface="+mj-lt"/>
                <a:cs typeface="+mj-lt"/>
              </a:rPr>
              <a:t>PREMISSAS INICIAIS (SIMBÓLICAS)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0587" y="2022250"/>
            <a:ext cx="5209616" cy="3926816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P1: A (Substâncias incomuns encontradas)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P2: B ∧ C (Hematomas não mataram E cozinheiro na recreação) 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P3: D → E (Médico na cozinha → Piloto na segurança)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P4: F (Médico tinha rixa com chefe)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P5: G (Piloto último a ver chefe vivo</a:t>
            </a:r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35AC68-D86C-E73B-5402-F22C9F54DC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8194" y="2018119"/>
            <a:ext cx="4890294" cy="393191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P6: ¬E → H (Piloto NÃO na segurança → Biólogo é assassino)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P7: C (Cozinheiro na recreação durante incidente)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P8: I → (H ∨ D) (Substâncias biológicas → Biólogo OU Médico) 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P9: D (Médico estava na cozinha) 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P10: D → ¬K (Médico na cozinha → NÃO na segurança)</a:t>
            </a:r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11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4170CC-55FA-E5DF-87D8-F0F26A4D8A9C}"/>
              </a:ext>
            </a:extLst>
          </p:cNvPr>
          <p:cNvSpPr txBox="1"/>
          <p:nvPr/>
        </p:nvSpPr>
        <p:spPr>
          <a:xfrm>
            <a:off x="1101059" y="5549933"/>
            <a:ext cx="56663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4D4D4C"/>
                </a:solidFill>
                <a:ea typeface="+mn-lt"/>
                <a:cs typeface="+mn-lt"/>
              </a:rPr>
              <a:t>Conclusão a ser provada: H (O biólogo é o assassino)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3F874-83BB-DABB-39BD-46724FF5B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02" y="365125"/>
            <a:ext cx="5821909" cy="54794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4D4D4C"/>
                </a:solidFill>
                <a:ea typeface="+mj-lt"/>
                <a:cs typeface="+mj-lt"/>
              </a:rPr>
              <a:t>DEDUÇÃO LÓGICA - PARTE 1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63AACA-E5E1-D22D-90B2-396DFE7DDEF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354" y="907683"/>
            <a:ext cx="7973113" cy="52143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PASSO 1: De P9, temos D (Médico na cozinha) - Regra: Premissa dada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PASSO 2: De P3 (D → E) e P9 (D), obtemos E - Regra: Modus </a:t>
            </a:r>
            <a:r>
              <a:rPr lang="pt-BR" b="0" dirty="0" err="1">
                <a:solidFill>
                  <a:srgbClr val="4D4D4C"/>
                </a:solidFill>
                <a:ea typeface="+mn-lt"/>
                <a:cs typeface="+mn-lt"/>
              </a:rPr>
              <a:t>Ponens</a:t>
            </a: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PASSO 3: De P1, sabemos que A (Substâncias incomuns presentes) Regra: Premissa dada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PASSO 4: De P10 (D → ¬K) e P9 (D), obtemos ¬K Regra: Modus </a:t>
            </a:r>
            <a:r>
              <a:rPr lang="pt-BR" b="0" dirty="0" err="1">
                <a:solidFill>
                  <a:srgbClr val="4D4D4C"/>
                </a:solidFill>
                <a:ea typeface="+mn-lt"/>
                <a:cs typeface="+mn-lt"/>
              </a:rPr>
              <a:t>Ponens</a:t>
            </a: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 (Médico NÃO estava na ala de segurança) </a:t>
            </a:r>
          </a:p>
          <a:p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PASSO 5: De P2, temos B ∧ C Regra: Premissa dada Logo: B (hematomas não mataram) E C (cozinheiro na recreação) </a:t>
            </a:r>
          </a:p>
          <a:p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PASSO 6: Como temos E (piloto na segurança) do PASSO 2, P6 (¬E → H) não se aplica diretamente Regra: Análise de condicional </a:t>
            </a:r>
          </a:p>
          <a:p>
            <a:pPr marL="0" indent="0">
              <a:buNone/>
            </a:pPr>
            <a:br>
              <a:rPr lang="pt-BR" b="0" dirty="0">
                <a:solidFill>
                  <a:srgbClr val="4D4D4C"/>
                </a:solidFill>
                <a:ea typeface="+mn-lt"/>
                <a:cs typeface="+mn-lt"/>
              </a:rPr>
            </a:br>
            <a:endParaRPr lang="pt-BR" b="0" dirty="0">
              <a:solidFill>
                <a:srgbClr val="4D4D4C"/>
              </a:solidFill>
              <a:ea typeface="+mn-lt"/>
              <a:cs typeface="+mn-lt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928B63-9867-A606-5BC4-5480A996FBA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 flipH="1">
            <a:off x="10360741" y="2293937"/>
            <a:ext cx="152003" cy="187389"/>
          </a:xfrm>
        </p:spPr>
        <p:txBody>
          <a:bodyPr>
            <a:normAutofit fontScale="40000" lnSpcReduction="20000"/>
          </a:bodyPr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1489A6-3262-773C-8510-C3E8E137F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6420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73A02-50E7-0A04-425F-3D2EF021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42" y="234156"/>
            <a:ext cx="8522495" cy="557361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rgbClr val="4D4D4C"/>
                </a:solidFill>
                <a:ea typeface="+mj-lt"/>
                <a:cs typeface="+mj-lt"/>
              </a:rPr>
              <a:t>DEDUÇÃO LÓGICA - PARTE 2 – PREMISSAS FINAIS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982FF2-2006-C899-0711-6FC79C3EEF7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35743" y="784001"/>
            <a:ext cx="9918097" cy="546167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1. A (Substâncias incomuns presentes)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2. I (Substâncias são de origem biológica)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3. I → (H ∨ D) (Se biológicas → Biólogo OU Médico)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4. D (Médico na cozinha)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5. ¬K (Médico NÃO na ala de segurança)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ENCADEAMENTO FINAL: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 PASSO 7: De I e P8 (I → (H ∨ D)), obtemos (H ∨ D) Regra: Modus </a:t>
            </a:r>
            <a:r>
              <a:rPr lang="pt-BR" b="0" dirty="0" err="1">
                <a:solidFill>
                  <a:srgbClr val="4D4D4C"/>
                </a:solidFill>
                <a:ea typeface="+mn-lt"/>
                <a:cs typeface="+mn-lt"/>
              </a:rPr>
              <a:t>Ponens</a:t>
            </a: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PASSO 8: Temos (H ∨ D) e precisamos eliminar D Sabemos: ¬K (médico não estava na segurança) E B (hematomas não causaram morte)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PASSO 9: Como substâncias biológicas requerem acesso à ala biológica E médico não tinha acesso direto (estava na cozinha) E apenas biólogo tem acesso exclusivo às toxinas Regra: Silogismo Disjuntivo + Análise contextual 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CONCLUSÃO FINAL: H (O BIÓLOGO LOGAN É O ASSASSINO/SABOTADOR)</a:t>
            </a:r>
            <a:endParaRPr lang="pt-BR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 O biólogo sabotou a ala de segurança, permitindo que o </a:t>
            </a:r>
            <a:r>
              <a:rPr lang="pt-BR" b="0" dirty="0" err="1">
                <a:solidFill>
                  <a:srgbClr val="4D4D4C"/>
                </a:solidFill>
                <a:ea typeface="+mn-lt"/>
                <a:cs typeface="+mn-lt"/>
              </a:rPr>
              <a:t>alien</a:t>
            </a:r>
            <a:r>
              <a:rPr lang="pt-BR" b="0" dirty="0">
                <a:solidFill>
                  <a:srgbClr val="4D4D4C"/>
                </a:solidFill>
                <a:ea typeface="+mn-lt"/>
                <a:cs typeface="+mn-lt"/>
              </a:rPr>
              <a:t> escapasse e usasse o corpo do chefe Peçanha como hospedeiro!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A294C7-7584-3786-A555-59480547D6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 flipH="1" flipV="1">
            <a:off x="11294268" y="5717675"/>
            <a:ext cx="130322" cy="122350"/>
          </a:xfrm>
        </p:spPr>
        <p:txBody>
          <a:bodyPr>
            <a:normAutofit fontScale="25000" lnSpcReduction="20000"/>
          </a:bodyPr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CF45C1-7D7B-15F7-8ECD-C3887E636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9533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Obrigado!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976" y="4172989"/>
            <a:ext cx="5625641" cy="2519363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B53FD5-8F3E-4406-8404-9F78B5E6376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68EFD9E-464D-4A64-8503-21EC02601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33F63F-9110-40E7-9727-485934F415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1302</Words>
  <Application>Microsoft Office PowerPoint</Application>
  <PresentationFormat>Widescreen</PresentationFormat>
  <Paragraphs>110</Paragraphs>
  <Slides>14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Tenorite</vt:lpstr>
      <vt:lpstr>Personalizado</vt:lpstr>
      <vt:lpstr>Alien: o sétimo passageiro</vt:lpstr>
      <vt:lpstr>Alien: o sétimo passageiro</vt:lpstr>
      <vt:lpstr>CONTEXTO</vt:lpstr>
      <vt:lpstr>personagens</vt:lpstr>
      <vt:lpstr>Apresentação do PowerPoint</vt:lpstr>
      <vt:lpstr>ITENS</vt:lpstr>
      <vt:lpstr>Apresentação do PowerPoint</vt:lpstr>
      <vt:lpstr>LOCAIS DA NAVE</vt:lpstr>
      <vt:lpstr>Fatos Relevantes  (Pistas/Hipóteses)</vt:lpstr>
      <vt:lpstr>Rotulagem das Premissas</vt:lpstr>
      <vt:lpstr>PREMISSAS INICIAIS (SIMBÓLICAS)</vt:lpstr>
      <vt:lpstr>DEDUÇÃO LÓGICA - PARTE 1</vt:lpstr>
      <vt:lpstr>DEDUÇÃO LÓGICA - PARTE 2 – PREMISSAS FINAIS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Luis Gustavo Pazin Sandri</cp:lastModifiedBy>
  <cp:revision>219</cp:revision>
  <dcterms:created xsi:type="dcterms:W3CDTF">2025-11-17T13:33:46Z</dcterms:created>
  <dcterms:modified xsi:type="dcterms:W3CDTF">2025-11-21T14:22:47Z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